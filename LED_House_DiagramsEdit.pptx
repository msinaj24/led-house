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2161520" cy="1828800"/>
          </a:xfrm>
          <a:prstGeom prst="rect">
            <a:avLst/>
          </a:prstGeom>
          <a:solidFill>
            <a:srgbClr val="163555"/>
          </a:solidFill>
          <a:ln w="12700">
            <a:solidFill>
              <a:srgbClr val="1635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House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Shop — System Diagrams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BD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every home finds its light."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1208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Onion Diagram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User Scenarios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User Story Cards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BPMN Process Diagrams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ERD — Entity Relationship Diagram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Onion Diagram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640080"/>
            <a:ext cx="10789920" cy="6035040"/>
          </a:xfrm>
          <a:prstGeom prst="ellipse">
            <a:avLst/>
          </a:prstGeom>
          <a:solidFill>
            <a:srgbClr val="D6E4F0"/>
          </a:solidFill>
          <a:ln w="1905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1371600"/>
            <a:ext cx="8229600" cy="4572000"/>
          </a:xfrm>
          <a:prstGeom prst="ellipse">
            <a:avLst/>
          </a:prstGeom>
          <a:solidFill>
            <a:srgbClr val="C5D9EF"/>
          </a:solidFill>
          <a:ln w="1905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46120" y="1965960"/>
            <a:ext cx="5669280" cy="3383280"/>
          </a:xfrm>
          <a:prstGeom prst="ellipse">
            <a:avLst/>
          </a:prstGeom>
          <a:solidFill>
            <a:srgbClr val="87AECC"/>
          </a:solidFill>
          <a:ln w="1905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0" y="2651760"/>
            <a:ext cx="3383280" cy="2011680"/>
          </a:xfrm>
          <a:prstGeom prst="ellipse">
            <a:avLst/>
          </a:prstGeom>
          <a:solidFill>
            <a:srgbClr val="2E74B5"/>
          </a:solidFill>
          <a:ln w="1905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roduct Catalogue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0916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3639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Management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39410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1737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83880" y="1737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5029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83880" y="3931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Flow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3383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83880" y="5029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51296" y="7680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464040" y="914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r>
              <a:rPr lang="en-US" sz="750" dirty="0">
                <a:solidFill>
                  <a:srgbClr val="16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000" dirty="0">
                <a:solidFill>
                  <a:srgbClr val="16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5852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9828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/ COD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98280" y="5852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Tracker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" y="1846383"/>
            <a:ext cx="1828800" cy="3429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Owner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" y="4114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Employee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0" y="731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Customer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0" y="4114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Provider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6492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640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685800"/>
            <a:ext cx="164592" cy="164592"/>
          </a:xfrm>
          <a:prstGeom prst="rect">
            <a:avLst/>
          </a:prstGeom>
          <a:solidFill>
            <a:srgbClr val="2E74B5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949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Core Domain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941832"/>
            <a:ext cx="164592" cy="164592"/>
          </a:xfrm>
          <a:prstGeom prst="rect">
            <a:avLst/>
          </a:prstGeom>
          <a:solidFill>
            <a:srgbClr val="87AECC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9144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Application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1197864"/>
            <a:ext cx="164592" cy="164592"/>
          </a:xfrm>
          <a:prstGeom prst="rect">
            <a:avLst/>
          </a:prstGeom>
          <a:solidFill>
            <a:srgbClr val="C5D9EF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11704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System Boundary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1453896"/>
            <a:ext cx="164592" cy="164592"/>
          </a:xfrm>
          <a:prstGeom prst="rect">
            <a:avLst/>
          </a:prstGeom>
          <a:solidFill>
            <a:srgbClr val="D6E4F0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142646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External Actors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User Scenarios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1170432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594360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59436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34640" y="5943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Actor(s)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12080" y="594360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Summary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905256"/>
            <a:ext cx="11704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996696"/>
            <a:ext cx="347472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996696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905256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Browses &amp; Buys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34640" y="905256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Customer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12080" y="905256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catalogue → Filter → View product → Add to cart → Checkout → Pay (PayPal / 2Checkout / COD) → Inventory decremented → Confirmation notification sent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8600" y="1655064"/>
            <a:ext cx="1170432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746504"/>
            <a:ext cx="347472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746504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1655064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Adds a Product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34640" y="1655064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Owner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212080" y="1655064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Admin panel → Add Product → Enter details + stock qty → Validate → Publish → Inventory records new stock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" y="2404872"/>
            <a:ext cx="11704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496312"/>
            <a:ext cx="347472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496312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2404872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Makes Payment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2404872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Bank / Payment Provider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212080" y="2404872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→ Select method → Online: redirect to provider → Success/failure gateway → COD: order pending, owner confirms → Order confirmed → Notification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8600" y="3154680"/>
            <a:ext cx="1170432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3246120"/>
            <a:ext cx="347472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3246120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315468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Manages Orders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34640" y="315468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Owner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212080" y="315468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View order list → Open order (items, customer, payment type) → Update status → Dispatch (COD: confirm + coordinate delivery) → Delivered → Notification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" y="3904488"/>
            <a:ext cx="11704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3995928"/>
            <a:ext cx="347472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3995928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" y="3904488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Requests Repair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834640" y="3904488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Owner / Employee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212080" y="3904488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Service Request form → Submit (status: Pending) → Owner reviews → Accept → Set estimated date → Status: In Progress → Notification sent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8600" y="4654296"/>
            <a:ext cx="1170432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" y="4745736"/>
            <a:ext cx="347472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4745736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" y="4654296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Receives Notification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34640" y="4654296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System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212080" y="4654296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event (order/service status change) → Notification engine identifies recipient → Compose message → Send via email/SMS → Customer receives → If service ready: customer picks up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28600" y="5404104"/>
            <a:ext cx="11704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" y="5495544"/>
            <a:ext cx="347472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" y="5495544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" y="5404104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with Delivery (COD)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834640" y="5404104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Owner, Delivery Partner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212080" y="5404104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→ Select COD + provide address → Order: Pending COD → Owner confirms → Shares data with logistics → Delivery → Customer pays cash → Confirm delivery → Status: Delivered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User Story Cards  (US-01 to US-06)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3657600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594360"/>
            <a:ext cx="36576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59436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80360" y="594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941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customer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2070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browse and search products by category, price, and keyword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7099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I can quickly find the electrical products I need without visiting the shop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167128"/>
            <a:ext cx="3474720" cy="0"/>
          </a:xfrm>
          <a:prstGeom prst="line">
            <a:avLst/>
          </a:prstGeom>
          <a:noFill/>
          <a:ln w="7620">
            <a:solidFill>
              <a:srgbClr val="BDD0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128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423160"/>
            <a:ext cx="34747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Catalogue visible without login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returns results in &lt; 2s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 category, price, availability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Out-of-stock products labelled and blocked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8600" y="3310128"/>
            <a:ext cx="36576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3101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096512" y="594360"/>
            <a:ext cx="3657600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96512" y="594360"/>
            <a:ext cx="36576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59436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48272" y="594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87952" y="941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customer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87952" y="12070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request a repair or service for my electrical product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87952" y="17099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I can get my device fixed without going to the shop in advance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87952" y="2167128"/>
            <a:ext cx="3474720" cy="0"/>
          </a:xfrm>
          <a:prstGeom prst="line">
            <a:avLst/>
          </a:prstGeom>
          <a:noFill/>
          <a:ln w="7620">
            <a:solidFill>
              <a:srgbClr val="BDD0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87952" y="22128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87952" y="2423160"/>
            <a:ext cx="34747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Form: product type, fault, contact method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Submission stores request as 'Pending'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receives confirmation notification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can view service request status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096512" y="3310128"/>
            <a:ext cx="36576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87952" y="33101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964424" y="594360"/>
            <a:ext cx="3657600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64424" y="594360"/>
            <a:ext cx="36576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28432" y="59436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16184" y="594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55864" y="941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shop owner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55864" y="12070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update the status of a repair or service request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55864" y="17099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I can keep customers informed and manage the workshop workload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055864" y="2167128"/>
            <a:ext cx="3474720" cy="0"/>
          </a:xfrm>
          <a:prstGeom prst="line">
            <a:avLst/>
          </a:prstGeom>
          <a:noFill/>
          <a:ln w="7620">
            <a:solidFill>
              <a:srgbClr val="BDD0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55864" y="22128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055864" y="2423160"/>
            <a:ext cx="34747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all active service requests in admin panel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Pending → In Progress → Ready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estimated completion date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notifies customer on each change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964424" y="3310128"/>
            <a:ext cx="36576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55864" y="33101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28600" y="3776472"/>
            <a:ext cx="3657600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3776472"/>
            <a:ext cx="36576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" y="3776472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80360" y="37764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0040" y="41239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system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20040" y="43891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notify customers automatically on order or service status changes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0040" y="4892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customers stay informed without manual contact from the shop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5349240"/>
            <a:ext cx="3474720" cy="0"/>
          </a:xfrm>
          <a:prstGeom prst="line">
            <a:avLst/>
          </a:prstGeom>
          <a:noFill/>
          <a:ln w="7620">
            <a:solidFill>
              <a:srgbClr val="BDD0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5394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0040" y="5605272"/>
            <a:ext cx="34747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Triggers: order confirmed, dispatched, delivered, service started, ready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Via email or SMS per customer preference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 within 60 seconds of status change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Failed notifications logged for follow-up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28600" y="6492240"/>
            <a:ext cx="36576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6492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096512" y="3776472"/>
            <a:ext cx="3657600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096512" y="3776472"/>
            <a:ext cx="36576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60520" y="3776472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748272" y="37764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187952" y="41239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shop owner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187952" y="43891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track stock levels and receive low-stock alerts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87952" y="4892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I can avoid overselling and reorder stock in time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187952" y="5349240"/>
            <a:ext cx="3474720" cy="0"/>
          </a:xfrm>
          <a:prstGeom prst="line">
            <a:avLst/>
          </a:prstGeom>
          <a:noFill/>
          <a:ln w="7620">
            <a:solidFill>
              <a:srgbClr val="BDD0E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87952" y="5394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187952" y="5605272"/>
            <a:ext cx="34747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 displayed per product in admin panel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Auto-decremented on confirmed purchase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Out-of-stock orders blocked by system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 when stock falls below threshold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096512" y="6492240"/>
            <a:ext cx="36576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87952" y="6492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964424" y="3776472"/>
            <a:ext cx="3657600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964424" y="3776472"/>
            <a:ext cx="36576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28432" y="3776472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US-06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616184" y="37764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055864" y="41239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customer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055864" y="43891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select Cash on Delivery (COD) as my payment method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055864" y="4892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I can shop online without a bank card or digital wallet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055864" y="5349240"/>
            <a:ext cx="3474720" cy="0"/>
          </a:xfrm>
          <a:prstGeom prst="line">
            <a:avLst/>
          </a:prstGeom>
          <a:noFill/>
          <a:ln w="7620">
            <a:solidFill>
              <a:srgbClr val="BDD0E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55864" y="5394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055864" y="5605272"/>
            <a:ext cx="34747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 offered at checkout alongside PayPal / 2Checkout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 order placed as 'Pending COD'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provides delivery address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updated to 'Delivered' after delivery confirmation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7964424" y="6492240"/>
            <a:ext cx="36576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55864" y="6492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User Story Cards  (US-07 to US-10)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3657600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594360"/>
            <a:ext cx="36576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59436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80360" y="594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941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shop owner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2070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view sales analytics and profit 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7099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I can make informed decisions about pricing, stock, and promotions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167128"/>
            <a:ext cx="3474720" cy="0"/>
          </a:xfrm>
          <a:prstGeom prst="line">
            <a:avLst/>
          </a:prstGeom>
          <a:noFill/>
          <a:ln w="7620">
            <a:solidFill>
              <a:srgbClr val="BDD0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128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423160"/>
            <a:ext cx="34747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Units sold per product over a date range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Profit calculated (purchase vs selling price)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Best-selling and lowest-performing products highlighted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Discounts can be applied per product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8600" y="3310128"/>
            <a:ext cx="36576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3101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096512" y="594360"/>
            <a:ext cx="3657600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96512" y="594360"/>
            <a:ext cx="36576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59436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48272" y="594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87952" y="941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store employee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87952" y="12070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update product information and order statuses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87952" y="17099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I can assist the owner in managing daily operations efficiently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87952" y="2167128"/>
            <a:ext cx="3474720" cy="0"/>
          </a:xfrm>
          <a:prstGeom prst="line">
            <a:avLst/>
          </a:prstGeom>
          <a:noFill/>
          <a:ln w="7620">
            <a:solidFill>
              <a:srgbClr val="BDD0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87952" y="22128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87952" y="2423160"/>
            <a:ext cx="34747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Separate employee login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edit product details and stock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update order statuses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access financial analytics or owner settings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096512" y="3310128"/>
            <a:ext cx="36576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87952" y="33101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964424" y="594360"/>
            <a:ext cx="3657600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64424" y="594360"/>
            <a:ext cx="36576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28432" y="59436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16184" y="594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55864" y="941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customer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55864" y="12070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register an account and view my order history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55864" y="17099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I can track past purchases and manage my profile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055864" y="2167128"/>
            <a:ext cx="3474720" cy="0"/>
          </a:xfrm>
          <a:prstGeom prst="line">
            <a:avLst/>
          </a:prstGeom>
          <a:noFill/>
          <a:ln w="7620">
            <a:solidFill>
              <a:srgbClr val="BDD0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55864" y="22128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055864" y="2423160"/>
            <a:ext cx="34747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Registration: name, email, phone, password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login with session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history shows status, items, total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reset via email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964424" y="3310128"/>
            <a:ext cx="36576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55864" y="33101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28600" y="3776472"/>
            <a:ext cx="3657600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3776472"/>
            <a:ext cx="36576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" y="3776472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80360" y="37764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0040" y="41239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shop owner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20040" y="43891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manage incoming orders from the admin panel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0040" y="4892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I can efficiently process, confirm, and dispatch orders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5349240"/>
            <a:ext cx="3474720" cy="0"/>
          </a:xfrm>
          <a:prstGeom prst="line">
            <a:avLst/>
          </a:prstGeom>
          <a:noFill/>
          <a:ln w="7620">
            <a:solidFill>
              <a:srgbClr val="BDD0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5394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0040" y="5605272"/>
            <a:ext cx="34747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orders visible with status, date, customer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order for full details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status: Pending → Confirmed → Dispatched → Delivered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 orders clearly labelled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28600" y="6492240"/>
            <a:ext cx="36576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6492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BPMN 1  |  Customer Purchase Flow (with Inventory Check)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566928"/>
            <a:ext cx="11795760" cy="6080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566928"/>
            <a:ext cx="11795760" cy="152019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566928"/>
            <a:ext cx="1188720" cy="152019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58368"/>
            <a:ext cx="1152144" cy="1337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08760" y="1148715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624203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286000" y="132702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07556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07556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Filter Products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3264408" y="132702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65576" y="107556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5576" y="107556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Product Detail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242816" y="132702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43984" y="107556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3984" y="107556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5221224" y="132702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22392" y="107556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22392" y="107556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Payment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182880" y="2087118"/>
            <a:ext cx="11795760" cy="1520190"/>
          </a:xfrm>
          <a:prstGeom prst="rect">
            <a:avLst/>
          </a:prstGeom>
          <a:solidFill>
            <a:srgbClr val="F0F5FA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2087118"/>
            <a:ext cx="1188720" cy="152019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2178558"/>
            <a:ext cx="1152144" cy="1337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House System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 rot="2700000">
            <a:off x="1618488" y="2641473"/>
            <a:ext cx="557784" cy="41148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0200" y="2687193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3144393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Stock?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286000" y="284721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487168" y="259575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87168" y="259575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Block: Out of Stock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3264408" y="284721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rot="2700000">
            <a:off x="3575304" y="2641473"/>
            <a:ext cx="557784" cy="41148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57016" y="2687193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28416" y="3144393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Method?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242816" y="284721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443984" y="259575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43984" y="259575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Inventory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5221224" y="284721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422392" y="259575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22392" y="259575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Notification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182880" y="3607308"/>
            <a:ext cx="11795760" cy="152019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" y="3607308"/>
            <a:ext cx="1188720" cy="152019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168" y="3698748"/>
            <a:ext cx="1152144" cy="1337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/ Provider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508760" y="4189095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17320" y="4664583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Request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286000" y="436740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487168" y="411594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87168" y="411594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Payment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3264408" y="436740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rot="2700000">
            <a:off x="3575304" y="4161663"/>
            <a:ext cx="557784" cy="41148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57016" y="4207383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328416" y="4664583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Success?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242816" y="436740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443984" y="411594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43984" y="411594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Status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5221224" y="436740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5422392" y="4189095"/>
            <a:ext cx="594360" cy="393192"/>
          </a:xfrm>
          <a:prstGeom prst="ellipse">
            <a:avLst/>
          </a:prstGeom>
          <a:solidFill>
            <a:srgbClr val="FADBD8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30952" y="4664583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82880" y="5127498"/>
            <a:ext cx="11795760" cy="1520190"/>
          </a:xfrm>
          <a:prstGeom prst="rect">
            <a:avLst/>
          </a:prstGeom>
          <a:solidFill>
            <a:srgbClr val="F0F5FA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2880" y="5127498"/>
            <a:ext cx="1188720" cy="152019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1168" y="5218938"/>
            <a:ext cx="1152144" cy="1337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Staff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508760" y="5709285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17320" y="6184773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 Alert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286000" y="588759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2487168" y="563613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87168" y="563613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COD Order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3264408" y="588759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3465576" y="563613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65576" y="563613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&amp; Dispatch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4242816" y="588759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4443984" y="563613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43984" y="563613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Status: Delivered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5221224" y="588759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5422392" y="5709285"/>
            <a:ext cx="594360" cy="393192"/>
          </a:xfrm>
          <a:prstGeom prst="ellipse">
            <a:avLst/>
          </a:prstGeom>
          <a:solidFill>
            <a:srgbClr val="FADBD8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30952" y="6184773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solidFill>
            <a:srgbClr val="FEF9E7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04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Inventory is decremented only upon confirmed payment. COD orders are confirmed manually by the owner before dispatch.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BPMN 2  |  Product Management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566928"/>
            <a:ext cx="11795760" cy="6080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566928"/>
            <a:ext cx="11795760" cy="202692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566928"/>
            <a:ext cx="1188720" cy="2026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58368"/>
            <a:ext cx="1152144" cy="184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Employee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08760" y="1402080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8775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Admin Panel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286000" y="158038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rot="2700000">
            <a:off x="2596896" y="1374648"/>
            <a:ext cx="557784" cy="41148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42036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50008" y="187756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Update?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64408" y="158038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65576" y="132892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5576" y="13289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Product Form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242816" y="158038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43984" y="132892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3984" y="13289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Existing Product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5221224" y="158038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22392" y="132892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22392" y="13289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182880" y="2593848"/>
            <a:ext cx="11795760" cy="2026920"/>
          </a:xfrm>
          <a:prstGeom prst="rect">
            <a:avLst/>
          </a:prstGeom>
          <a:solidFill>
            <a:srgbClr val="F0F5FA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2593848"/>
            <a:ext cx="1188720" cy="2026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2685288"/>
            <a:ext cx="1152144" cy="184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House System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508760" y="3429000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390448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Submission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286000" y="360730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rot="2700000">
            <a:off x="2596896" y="3401568"/>
            <a:ext cx="557784" cy="41148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78608" y="344728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50008" y="390448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Valid?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264408" y="360730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465576" y="335584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65576" y="33558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Error (loop)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242816" y="360730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443984" y="335584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43984" y="33558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Publish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5221224" y="360730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422392" y="335584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22392" y="33558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Inventory Stock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182880" y="4620768"/>
            <a:ext cx="11795760" cy="202692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" y="4620768"/>
            <a:ext cx="1188720" cy="2026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168" y="4712208"/>
            <a:ext cx="1152144" cy="184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508760" y="5455920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17320" y="593140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286000" y="563422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487168" y="538276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87168" y="538276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Visible to Customers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3264408" y="563422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465576" y="5455920"/>
            <a:ext cx="594360" cy="393192"/>
          </a:xfrm>
          <a:prstGeom prst="ellipse">
            <a:avLst/>
          </a:prstGeom>
          <a:solidFill>
            <a:srgbClr val="FADBD8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74136" y="593140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BPMN 3  |  Order Fulfilment — Delivery &amp; COD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566928"/>
            <a:ext cx="11795760" cy="6080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566928"/>
            <a:ext cx="11795760" cy="152019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566928"/>
            <a:ext cx="1188720" cy="152019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58368"/>
            <a:ext cx="1152144" cy="1337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House System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08760" y="1148715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624203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Created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286000" y="132702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rot="2700000">
            <a:off x="2596896" y="1121283"/>
            <a:ext cx="557784" cy="41148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167003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50008" y="1624203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Type?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64408" y="132702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65576" y="107556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5576" y="107556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Status: Confirmed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242816" y="132702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rot="2700000">
            <a:off x="4553712" y="1121283"/>
            <a:ext cx="557784" cy="41148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1167003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06824" y="1624203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OK?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221224" y="132702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22392" y="107556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22392" y="107556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+ Cancel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182880" y="2087118"/>
            <a:ext cx="11795760" cy="1520190"/>
          </a:xfrm>
          <a:prstGeom prst="rect">
            <a:avLst/>
          </a:prstGeom>
          <a:solidFill>
            <a:srgbClr val="F0F5FA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2087118"/>
            <a:ext cx="1188720" cy="152019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 rot="16200000">
            <a:off x="201168" y="2178558"/>
            <a:ext cx="1152144" cy="1337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Employee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508760" y="2668905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3144393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Alert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6000" y="284721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rot="2700000">
            <a:off x="2596896" y="2641473"/>
            <a:ext cx="557784" cy="41148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8608" y="2687193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350008" y="3144393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or Collect?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264408" y="284721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465576" y="259575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65576" y="259575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4242816" y="284721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443984" y="259575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43984" y="259575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Order Data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5221224" y="284721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22392" y="259575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22392" y="259575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Delivered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182880" y="3607308"/>
            <a:ext cx="11795760" cy="152019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" y="3607308"/>
            <a:ext cx="1188720" cy="152019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 rot="16200000">
            <a:off x="201168" y="3698748"/>
            <a:ext cx="1152144" cy="1337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508760" y="4189095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17320" y="4664583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286000" y="436740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487168" y="411594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87168" y="411594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Delivery Notification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3264408" y="436740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465576" y="411594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65576" y="411594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or Sign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4242816" y="436740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443984" y="411594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43984" y="411594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Cash (COD)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5221224" y="436740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5422392" y="4189095"/>
            <a:ext cx="594360" cy="393192"/>
          </a:xfrm>
          <a:prstGeom prst="ellipse">
            <a:avLst/>
          </a:prstGeom>
          <a:solidFill>
            <a:srgbClr val="FADBD8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30952" y="4664583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82880" y="5127498"/>
            <a:ext cx="11795760" cy="1520190"/>
          </a:xfrm>
          <a:prstGeom prst="rect">
            <a:avLst/>
          </a:prstGeom>
          <a:solidFill>
            <a:srgbClr val="F0F5FA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2880" y="5127498"/>
            <a:ext cx="1188720" cy="152019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 rot="16200000">
            <a:off x="201168" y="5218938"/>
            <a:ext cx="1152144" cy="1337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Partner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508760" y="5709285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17320" y="6184773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Data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286000" y="588759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2487168" y="563613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87168" y="563613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from Shop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3264408" y="588759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3465576" y="563613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65576" y="563613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to Customer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4242816" y="588759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4443984" y="5636133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43984" y="5636133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Delivery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5221224" y="5887593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5422392" y="5709285"/>
            <a:ext cx="594360" cy="393192"/>
          </a:xfrm>
          <a:prstGeom prst="ellipse">
            <a:avLst/>
          </a:prstGeom>
          <a:solidFill>
            <a:srgbClr val="FADBD8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30952" y="6184773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BPMN 4  |  Payment Processing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566928"/>
            <a:ext cx="11795760" cy="6080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566928"/>
            <a:ext cx="11795760" cy="202692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566928"/>
            <a:ext cx="1188720" cy="2026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201168" y="658368"/>
            <a:ext cx="1152144" cy="184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08760" y="1402080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8775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Payment Step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286000" y="158038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rot="2700000">
            <a:off x="2596896" y="1374648"/>
            <a:ext cx="557784" cy="41148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42036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50008" y="187756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Method?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64408" y="158038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65576" y="132892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5576" y="13289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COD: Place Order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242816" y="158038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43984" y="132892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3984" y="13289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Redirected to Provider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5221224" y="158038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22392" y="1402080"/>
            <a:ext cx="594360" cy="393192"/>
          </a:xfrm>
          <a:prstGeom prst="ellipse">
            <a:avLst/>
          </a:prstGeom>
          <a:solidFill>
            <a:srgbClr val="FADBD8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0952" y="18775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82880" y="2593848"/>
            <a:ext cx="11795760" cy="2026920"/>
          </a:xfrm>
          <a:prstGeom prst="rect">
            <a:avLst/>
          </a:prstGeom>
          <a:solidFill>
            <a:srgbClr val="F0F5FA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2593848"/>
            <a:ext cx="1188720" cy="2026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 rot="16200000">
            <a:off x="201168" y="2685288"/>
            <a:ext cx="1152144" cy="184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House System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508760" y="3429000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390448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Selection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286000" y="360730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rot="2700000">
            <a:off x="2596896" y="3401568"/>
            <a:ext cx="557784" cy="41148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78608" y="344728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50008" y="390448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Fail?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264408" y="360730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465576" y="335584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65576" y="33558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+ Reduce Stock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242816" y="360730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443984" y="335584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43984" y="33558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Confirmation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5221224" y="360730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422392" y="335584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22392" y="33558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Error / Retry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182880" y="4620768"/>
            <a:ext cx="11795760" cy="202692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" y="4620768"/>
            <a:ext cx="1188720" cy="2026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 rot="16200000">
            <a:off x="201168" y="4712208"/>
            <a:ext cx="1152144" cy="184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/ Provider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508760" y="5455920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17320" y="593140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Request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286000" y="563422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487168" y="538276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87168" y="538276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Transaction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3264408" y="563422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465576" y="538276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65576" y="538276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Check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4242816" y="563422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443984" y="538276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43984" y="538276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Status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5221224" y="563422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5422392" y="5455920"/>
            <a:ext cx="594360" cy="393192"/>
          </a:xfrm>
          <a:prstGeom prst="ellipse">
            <a:avLst/>
          </a:prstGeom>
          <a:solidFill>
            <a:srgbClr val="FADBD8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30952" y="593140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solidFill>
            <a:srgbClr val="FEF9E7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COD orders skip the Bank/Provider pool. Payment is collected physically at delivery.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BPMN 5  |  Registration &amp; Login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566928"/>
            <a:ext cx="11795760" cy="6080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566928"/>
            <a:ext cx="11795760" cy="304038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566928"/>
            <a:ext cx="1188720" cy="30403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201168" y="658368"/>
            <a:ext cx="1152144" cy="285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08760" y="1908810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38429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Login Page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286000" y="208711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rot="2700000">
            <a:off x="2596896" y="1881378"/>
            <a:ext cx="557784" cy="41148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92709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50008" y="238429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Returning?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64408" y="208711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65576" y="183565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5576" y="183565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Registration Form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242816" y="208711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43984" y="183565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3984" y="183565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Credentials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5221224" y="208711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22392" y="1908810"/>
            <a:ext cx="594360" cy="393192"/>
          </a:xfrm>
          <a:prstGeom prst="ellipse">
            <a:avLst/>
          </a:prstGeom>
          <a:solidFill>
            <a:srgbClr val="FADBD8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0952" y="238429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Granted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82880" y="3607308"/>
            <a:ext cx="11795760" cy="3040380"/>
          </a:xfrm>
          <a:prstGeom prst="rect">
            <a:avLst/>
          </a:prstGeom>
          <a:solidFill>
            <a:srgbClr val="F0F5FA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607308"/>
            <a:ext cx="1188720" cy="30403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 rot="16200000">
            <a:off x="201168" y="3698748"/>
            <a:ext cx="1152144" cy="285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House System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508760" y="4949190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542467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Input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286000" y="512749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rot="2700000">
            <a:off x="2596896" y="4921758"/>
            <a:ext cx="557784" cy="41148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78608" y="496747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50008" y="542467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Valid?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264408" y="512749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465576" y="487603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65576" y="487603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+ Notify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242816" y="512749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443984" y="487603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43984" y="487603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Invalid: Show Error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5221224" y="512749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422392" y="487603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22392" y="487603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Session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solidFill>
            <a:srgbClr val="FEF9E7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On 5 failed login attempts, account is temporarily locked and a password reset email is sent.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BPMN 6  |  Repair / Service Process (NEW)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566928"/>
            <a:ext cx="11795760" cy="6080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566928"/>
            <a:ext cx="11795760" cy="202692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566928"/>
            <a:ext cx="1188720" cy="2026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201168" y="658368"/>
            <a:ext cx="1152144" cy="184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08760" y="1402080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8775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286000" y="158038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32892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3289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Service Request Form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3264408" y="158038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65576" y="132892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5576" y="13289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242816" y="158038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43984" y="132892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3984" y="13289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Status Notifications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5221224" y="158038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22392" y="1402080"/>
            <a:ext cx="594360" cy="393192"/>
          </a:xfrm>
          <a:prstGeom prst="ellipse">
            <a:avLst/>
          </a:prstGeom>
          <a:solidFill>
            <a:srgbClr val="FADBD8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0952" y="18775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Product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82880" y="2593848"/>
            <a:ext cx="11795760" cy="2026920"/>
          </a:xfrm>
          <a:prstGeom prst="rect">
            <a:avLst/>
          </a:prstGeom>
          <a:solidFill>
            <a:srgbClr val="F0F5FA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2593848"/>
            <a:ext cx="1188720" cy="2026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 rot="16200000">
            <a:off x="201168" y="2685288"/>
            <a:ext cx="1152144" cy="184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House System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508760" y="3429000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390448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Request: Pending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286000" y="360730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487168" y="335584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87168" y="33558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Confirmation Notification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3264408" y="360730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465576" y="335584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65576" y="33558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Status: In Progress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4242816" y="360730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443984" y="335584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43984" y="33558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Status: Ready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5221224" y="360730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422392" y="335584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22392" y="33558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Send: Ready for Pickup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182880" y="4620768"/>
            <a:ext cx="11795760" cy="202692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" y="4620768"/>
            <a:ext cx="1188720" cy="2026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 rot="16200000">
            <a:off x="201168" y="4712208"/>
            <a:ext cx="1152144" cy="184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Employee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508760" y="5455920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17320" y="593140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Request Alert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86000" y="563422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rot="2700000">
            <a:off x="2596896" y="5428488"/>
            <a:ext cx="557784" cy="41148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78608" y="547420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350008" y="593140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Accept?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264408" y="563422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465576" y="538276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65576" y="538276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Estimated Date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4242816" y="563422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443984" y="538276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43984" y="538276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Service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5221224" y="563422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422392" y="538276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22392" y="538276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Mark: Completed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solidFill>
            <a:srgbClr val="FEF9E7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Status transitions: Pending → In Progress → Ready for Pickup → Completed.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BPMN 7  |  Notification Flow (NEW)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566928"/>
            <a:ext cx="11795760" cy="6080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566928"/>
            <a:ext cx="11795760" cy="202692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566928"/>
            <a:ext cx="1188720" cy="2026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58368"/>
            <a:ext cx="1152144" cy="184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Trigger Engine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08760" y="1402080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8775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 Event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286000" y="158038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rot="2700000">
            <a:off x="2596896" y="1374648"/>
            <a:ext cx="557784" cy="41148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42036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50008" y="187756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Type?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64408" y="158038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65576" y="132892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5576" y="13289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Recipient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242816" y="158038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43984" y="132892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3984" y="13289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Message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5221224" y="158038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22392" y="132892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22392" y="13289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to Notification Service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182880" y="2593848"/>
            <a:ext cx="11795760" cy="2026920"/>
          </a:xfrm>
          <a:prstGeom prst="rect">
            <a:avLst/>
          </a:prstGeom>
          <a:solidFill>
            <a:srgbClr val="F0F5FA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2593848"/>
            <a:ext cx="1188720" cy="2026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2685288"/>
            <a:ext cx="1152144" cy="184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508760" y="3429000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390448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Message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286000" y="360730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rot="2700000">
            <a:off x="2596896" y="3401568"/>
            <a:ext cx="557784" cy="41148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78608" y="344728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50008" y="390448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Email or SMS?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264408" y="360730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465576" y="335584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65576" y="33558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via Email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242816" y="360730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443984" y="335584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43984" y="33558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via SMS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5221224" y="360730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rot="2700000">
            <a:off x="5532120" y="3401568"/>
            <a:ext cx="557784" cy="41148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344728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85232" y="390448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Delivered?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82880" y="4620768"/>
            <a:ext cx="11795760" cy="202692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" y="4620768"/>
            <a:ext cx="1188720" cy="2026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1168" y="4712208"/>
            <a:ext cx="1152144" cy="184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508760" y="5455920"/>
            <a:ext cx="594360" cy="393192"/>
          </a:xfrm>
          <a:prstGeom prst="ellipse">
            <a:avLst/>
          </a:prstGeom>
          <a:solidFill>
            <a:srgbClr val="D6EFD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17320" y="593140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Update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286000" y="563422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487168" y="538276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87168" y="538276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3264408" y="563422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465576" y="5382768"/>
            <a:ext cx="777240" cy="502920"/>
          </a:xfrm>
          <a:prstGeom prst="rect">
            <a:avLst/>
          </a:prstGeom>
          <a:solidFill>
            <a:srgbClr val="D6E4F0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65576" y="538276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Status + Next Steps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4242816" y="5634228"/>
            <a:ext cx="201168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443984" y="5455920"/>
            <a:ext cx="594360" cy="393192"/>
          </a:xfrm>
          <a:prstGeom prst="ellipse">
            <a:avLst/>
          </a:prstGeom>
          <a:solidFill>
            <a:srgbClr val="FADBD8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52544" y="593140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solidFill>
            <a:srgbClr val="FEF9E7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Stock alerts are sent to the shop owner, not the customer. All notifications are logged for audit.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Entity Relationship Diagram (ERD)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743200" cy="1883664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27432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932688"/>
            <a:ext cx="27432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32688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customerID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188720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name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" y="1417320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426464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email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7472" y="1655064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664208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phone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7472" y="1892808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901952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password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2130552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139696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address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0" y="640080"/>
            <a:ext cx="2743200" cy="1883664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640080"/>
            <a:ext cx="27432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640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932688"/>
            <a:ext cx="27432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932688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orderID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73552" y="1188720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orderDate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73552" y="1417320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1426464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status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73552" y="1655064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1664208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totalAmount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73552" y="1892808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3552" y="1901952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paymentMethod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73552" y="2130552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2139696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deliveryAddress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35040" y="640080"/>
            <a:ext cx="274320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640080"/>
            <a:ext cx="27432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640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35040" y="932688"/>
            <a:ext cx="27432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932688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itemID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08192" y="1188720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quantity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08192" y="1417320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08192" y="1426464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unitPrice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108192" y="1655064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08192" y="1664208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orderID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08192" y="1892808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08192" y="1901952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productID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869680" y="640080"/>
            <a:ext cx="2743200" cy="2121408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869680" y="640080"/>
            <a:ext cx="27432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69680" y="640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869680" y="932688"/>
            <a:ext cx="27432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42832" y="932688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productID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942832" y="1188720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name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942832" y="1417320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42832" y="1426464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description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942832" y="1655064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42832" y="1664208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price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942832" y="1892808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42832" y="1901952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purchasePrice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942832" y="2130552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42832" y="2139696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category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942832" y="2368296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42832" y="2377440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imageURL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200400" y="3474720"/>
            <a:ext cx="2743200" cy="1883664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200400" y="3474720"/>
            <a:ext cx="27432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0" y="34747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200400" y="3767328"/>
            <a:ext cx="27432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73552" y="3767328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paymentID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273552" y="4023360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method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273552" y="4251960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73552" y="4261104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status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273552" y="4489704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73552" y="4498848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amount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273552" y="4727448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73552" y="4736592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transactionRef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273552" y="4965192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73552" y="4974336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orderID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74320" y="3474720"/>
            <a:ext cx="2743200" cy="1883664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274320" y="3474720"/>
            <a:ext cx="27432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34747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ServiceRequest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74320" y="3767328"/>
            <a:ext cx="27432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7472" y="3767328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serviceID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347472" y="4023360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description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47472" y="4251960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7472" y="4261104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status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47472" y="4489704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47472" y="4498848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submittedDate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47472" y="4727448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47472" y="4736592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estimatedDate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47472" y="4965192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47472" y="4974336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customerID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035040" y="3474720"/>
            <a:ext cx="2743200" cy="1883664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6035040" y="3474720"/>
            <a:ext cx="27432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035040" y="34747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035040" y="3767328"/>
            <a:ext cx="27432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08192" y="3767328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notifID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108192" y="4023360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message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108192" y="4251960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108192" y="4261104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channel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6108192" y="4489704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108192" y="4498848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sentAt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108192" y="4727448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108192" y="4736592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status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108192" y="4965192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108192" y="4974336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customerID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8869680" y="3474720"/>
            <a:ext cx="274320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8869680" y="3474720"/>
            <a:ext cx="27432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869680" y="34747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8869680" y="3767328"/>
            <a:ext cx="27432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942832" y="3767328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inventoryID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8942832" y="4023360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stockQty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8942832" y="4251960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942832" y="4261104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lowStockThreshold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8942832" y="4489704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942832" y="4498848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lastUpdated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8942832" y="4727448"/>
            <a:ext cx="2596896" cy="0"/>
          </a:xfrm>
          <a:prstGeom prst="line">
            <a:avLst/>
          </a:prstGeom>
          <a:noFill/>
          <a:ln w="5080">
            <a:solidFill>
              <a:srgbClr val="BDD0E3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942832" y="4736592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productID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3017520" y="1463040"/>
            <a:ext cx="18288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148840" y="65836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2450592" y="65836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5943600" y="1463040"/>
            <a:ext cx="9144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983480" y="65836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5285232" y="65836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8778240" y="1463040"/>
            <a:ext cx="9144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818120" y="65836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8119872" y="65836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4572000" y="2743200"/>
            <a:ext cx="0" cy="73152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069080" y="28346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4370832" y="28346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1645920" y="2743200"/>
            <a:ext cx="0" cy="73152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97280" y="28346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28" name="Text 126"/>
          <p:cNvSpPr/>
          <p:nvPr/>
        </p:nvSpPr>
        <p:spPr>
          <a:xfrm>
            <a:off x="1399032" y="28346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3017520" y="4023360"/>
            <a:ext cx="30175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343400" y="33832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4645152" y="33832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10241280" y="2743200"/>
            <a:ext cx="0" cy="73152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9738360" y="28346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34" name="Text 132"/>
          <p:cNvSpPr/>
          <p:nvPr/>
        </p:nvSpPr>
        <p:spPr>
          <a:xfrm>
            <a:off x="10040112" y="28346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solidFill>
            <a:srgbClr val="D6E4F0"/>
          </a:solidFill>
          <a:ln w="12700">
            <a:solidFill>
              <a:srgbClr val="BDD0E3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Primary Key     FK = Foreign Key     1:N = One to Many     1:1 = One to One     N:1 = Many to One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1689</Words>
  <Application>Microsoft Office PowerPoint</Application>
  <PresentationFormat>Custom</PresentationFormat>
  <Paragraphs>421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House — System Diagrams</dc:title>
  <dc:subject>PptxGenJS Presentation</dc:subject>
  <dc:creator>PptxGenJS</dc:creator>
  <cp:lastModifiedBy>IdeaPad_S145</cp:lastModifiedBy>
  <cp:revision>3</cp:revision>
  <dcterms:created xsi:type="dcterms:W3CDTF">2026-04-08T00:47:57Z</dcterms:created>
  <dcterms:modified xsi:type="dcterms:W3CDTF">2026-04-08T07:07:52Z</dcterms:modified>
</cp:coreProperties>
</file>